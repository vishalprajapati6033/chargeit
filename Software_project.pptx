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3" r:id="rId1"/>
  </p:sldMasterIdLst>
  <p:notesMasterIdLst>
    <p:notesMasterId r:id="rId14"/>
  </p:notesMasterIdLst>
  <p:sldIdLst>
    <p:sldId id="256" r:id="rId2"/>
    <p:sldId id="257" r:id="rId3"/>
    <p:sldId id="261" r:id="rId4"/>
    <p:sldId id="258" r:id="rId5"/>
    <p:sldId id="259" r:id="rId6"/>
    <p:sldId id="260"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82"/>
  </p:normalViewPr>
  <p:slideViewPr>
    <p:cSldViewPr snapToGrid="0">
      <p:cViewPr>
        <p:scale>
          <a:sx n="101" d="100"/>
          <a:sy n="101" d="100"/>
        </p:scale>
        <p:origin x="1000"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D9FC39-60DB-274F-9881-73A5F9ACBBFE}" type="datetimeFigureOut">
              <a:rPr lang="en-US" smtClean="0"/>
              <a:t>4/25/25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B56814-D4FE-3D46-8048-C477C3913DA1}" type="slidenum">
              <a:rPr lang="en-US" smtClean="0"/>
              <a:t>‹#›</a:t>
            </a:fld>
            <a:endParaRPr lang="en-US"/>
          </a:p>
        </p:txBody>
      </p:sp>
    </p:spTree>
    <p:extLst>
      <p:ext uri="{BB962C8B-B14F-4D97-AF65-F5344CB8AC3E}">
        <p14:creationId xmlns:p14="http://schemas.microsoft.com/office/powerpoint/2010/main" val="255077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B56814-D4FE-3D46-8048-C477C3913DA1}" type="slidenum">
              <a:rPr lang="en-US" smtClean="0"/>
              <a:t>6</a:t>
            </a:fld>
            <a:endParaRPr lang="en-US"/>
          </a:p>
        </p:txBody>
      </p:sp>
    </p:spTree>
    <p:extLst>
      <p:ext uri="{BB962C8B-B14F-4D97-AF65-F5344CB8AC3E}">
        <p14:creationId xmlns:p14="http://schemas.microsoft.com/office/powerpoint/2010/main" val="951644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AA70F276-1833-4A75-9C1D-A56E2295A68D}" type="datetimeFigureOut">
              <a:rPr lang="en-US" smtClean="0"/>
              <a:t>4/25/25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21031890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A70F276-1833-4A75-9C1D-A56E2295A68D}" type="datetimeFigureOut">
              <a:rPr lang="en-US" smtClean="0"/>
              <a:t>4/25/25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225620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AA70F276-1833-4A75-9C1D-A56E2295A68D}" type="datetimeFigureOut">
              <a:rPr lang="en-US" smtClean="0"/>
              <a:t>4/25/25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77365393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AA70F276-1833-4A75-9C1D-A56E2295A68D}" type="datetimeFigureOut">
              <a:rPr lang="en-US" smtClean="0"/>
              <a:t>4/25/25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36574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AA70F276-1833-4A75-9C1D-A56E2295A68D}" type="datetimeFigureOut">
              <a:rPr lang="en-US" smtClean="0"/>
              <a:pPr/>
              <a:t>4/25/25</a:t>
            </a:fld>
            <a:endParaRPr lang="en-US" dirty="0"/>
          </a:p>
        </p:txBody>
      </p:sp>
      <p:sp>
        <p:nvSpPr>
          <p:cNvPr id="8" name="Footer Placeholder 7"/>
          <p:cNvSpPr>
            <a:spLocks noGrp="1"/>
          </p:cNvSpPr>
          <p:nvPr>
            <p:ph type="ftr" sz="quarter" idx="11"/>
          </p:nvPr>
        </p:nvSpPr>
        <p:spPr/>
        <p:txBody>
          <a:bodyPr/>
          <a:lstStyle/>
          <a:p>
            <a:endParaRPr lang="en-US">
              <a:solidFill>
                <a:srgbClr val="FFFFFF"/>
              </a:solidFill>
            </a:endParaRPr>
          </a:p>
        </p:txBody>
      </p:sp>
      <p:sp>
        <p:nvSpPr>
          <p:cNvPr id="9" name="Slide Number Placeholder 8"/>
          <p:cNvSpPr>
            <a:spLocks noGrp="1"/>
          </p:cNvSpPr>
          <p:nvPr>
            <p:ph type="sldNum" sz="quarter" idx="12"/>
          </p:nvPr>
        </p:nvSpPr>
        <p:spPr/>
        <p:txBody>
          <a:bodyPr/>
          <a:lstStyle/>
          <a:p>
            <a:fld id="{28844951-7827-47D4-8276-7DDE1FA7D85A}" type="slidenum">
              <a:rPr lang="en-US" smtClean="0"/>
              <a:pPr/>
              <a:t>‹#›</a:t>
            </a:fld>
            <a:endParaRPr lang="en-US"/>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295127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A70F276-1833-4A75-9C1D-A56E2295A68D}" type="datetimeFigureOut">
              <a:rPr lang="en-US" smtClean="0"/>
              <a:t>4/25/25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24922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70F276-1833-4A75-9C1D-A56E2295A68D}" type="datetimeFigureOut">
              <a:rPr lang="en-US" smtClean="0"/>
              <a:t>4/25/25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806309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AA70F276-1833-4A75-9C1D-A56E2295A68D}" type="datetimeFigureOut">
              <a:rPr lang="en-US" smtClean="0"/>
              <a:t>4/25/25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298555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AA70F276-1833-4A75-9C1D-A56E2295A68D}" type="datetimeFigureOut">
              <a:rPr lang="en-US" smtClean="0"/>
              <a:t>4/25/25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295099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A70F276-1833-4A75-9C1D-A56E2295A68D}"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89785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A70F276-1833-4A75-9C1D-A56E2295A68D}"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457420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AA70F276-1833-4A75-9C1D-A56E2295A68D}" type="datetimeFigureOut">
              <a:rPr lang="en-US" smtClean="0"/>
              <a:pPr/>
              <a:t>4/25/25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solidFill>
                <a:srgbClr val="FFFFFF"/>
              </a:solidFill>
            </a:endParaRPr>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1459946021"/>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488AA-34FB-FC5C-899E-0C487F7C6E53}"/>
              </a:ext>
            </a:extLst>
          </p:cNvPr>
          <p:cNvSpPr>
            <a:spLocks noGrp="1"/>
          </p:cNvSpPr>
          <p:nvPr>
            <p:ph type="ctrTitle"/>
          </p:nvPr>
        </p:nvSpPr>
        <p:spPr>
          <a:xfrm>
            <a:off x="804671" y="2386744"/>
            <a:ext cx="4754669" cy="3213956"/>
          </a:xfrm>
        </p:spPr>
        <p:txBody>
          <a:bodyPr>
            <a:normAutofit/>
          </a:bodyPr>
          <a:lstStyle/>
          <a:p>
            <a:pPr>
              <a:spcAft>
                <a:spcPts val="790"/>
              </a:spcAft>
            </a:pPr>
            <a:r>
              <a:rPr lang="en-US" sz="1200" dirty="0">
                <a:latin typeface="Times New Roman" panose="02020603050405020304" pitchFamily="18" charset="0"/>
                <a:cs typeface="Times New Roman" panose="02020603050405020304" pitchFamily="18" charset="0"/>
              </a:rPr>
              <a:t>Submitted by : </a:t>
            </a:r>
            <a:br>
              <a:rPr lang="en-US" sz="1200" dirty="0">
                <a:latin typeface="Times New Roman" panose="02020603050405020304" pitchFamily="18" charset="0"/>
                <a:cs typeface="Times New Roman" panose="02020603050405020304" pitchFamily="18" charset="0"/>
              </a:rPr>
            </a:br>
            <a:r>
              <a:rPr lang="en-IN" sz="1200" dirty="0">
                <a:effectLst/>
                <a:latin typeface="Times New Roman" panose="02020603050405020304" pitchFamily="18" charset="0"/>
                <a:ea typeface="Arial" panose="020B0604020202020204" pitchFamily="34" charset="0"/>
                <a:cs typeface="Times New Roman" panose="02020603050405020304" pitchFamily="18" charset="0"/>
              </a:rPr>
              <a:t>DEEPAK DAS TATWA(AP22110011485)</a:t>
            </a:r>
            <a:br>
              <a:rPr lang="en-IN" sz="1200" dirty="0">
                <a:effectLst/>
                <a:latin typeface="Times New Roman" panose="02020603050405020304" pitchFamily="18" charset="0"/>
                <a:ea typeface="Arial" panose="020B0604020202020204" pitchFamily="34" charset="0"/>
                <a:cs typeface="Times New Roman" panose="02020603050405020304" pitchFamily="18" charset="0"/>
              </a:rPr>
            </a:br>
            <a:r>
              <a:rPr lang="en-IN" sz="1200" dirty="0">
                <a:effectLst/>
                <a:latin typeface="Times New Roman" panose="02020603050405020304" pitchFamily="18" charset="0"/>
                <a:ea typeface="Arial" panose="020B0604020202020204" pitchFamily="34" charset="0"/>
                <a:cs typeface="Times New Roman" panose="02020603050405020304" pitchFamily="18" charset="0"/>
              </a:rPr>
              <a:t>PUJITHA POTLURI(AP22110011486)</a:t>
            </a:r>
            <a:br>
              <a:rPr lang="en-IN" sz="1200" dirty="0">
                <a:effectLst/>
                <a:latin typeface="Times New Roman" panose="02020603050405020304" pitchFamily="18" charset="0"/>
                <a:ea typeface="Arial" panose="020B0604020202020204" pitchFamily="34" charset="0"/>
                <a:cs typeface="Times New Roman" panose="02020603050405020304" pitchFamily="18" charset="0"/>
              </a:rPr>
            </a:br>
            <a:r>
              <a:rPr lang="en-IN" sz="1200" dirty="0">
                <a:effectLst/>
                <a:latin typeface="Times New Roman" panose="02020603050405020304" pitchFamily="18" charset="0"/>
                <a:ea typeface="Arial" panose="020B0604020202020204" pitchFamily="34" charset="0"/>
                <a:cs typeface="Times New Roman" panose="02020603050405020304" pitchFamily="18" charset="0"/>
              </a:rPr>
              <a:t>MNH SRAVYAVANI(AP22110011456)</a:t>
            </a:r>
            <a:br>
              <a:rPr lang="en-IN" sz="1200" dirty="0">
                <a:effectLst/>
                <a:latin typeface="Times New Roman" panose="02020603050405020304" pitchFamily="18" charset="0"/>
                <a:ea typeface="Arial" panose="020B0604020202020204" pitchFamily="34" charset="0"/>
                <a:cs typeface="Times New Roman" panose="02020603050405020304" pitchFamily="18" charset="0"/>
              </a:rPr>
            </a:br>
            <a:br>
              <a:rPr lang="en-IN" sz="1200" dirty="0">
                <a:effectLst/>
                <a:latin typeface="Times New Roman" panose="02020603050405020304" pitchFamily="18" charset="0"/>
                <a:ea typeface="Arial" panose="020B0604020202020204" pitchFamily="34" charset="0"/>
                <a:cs typeface="Times New Roman" panose="02020603050405020304" pitchFamily="18" charset="0"/>
              </a:rPr>
            </a:br>
            <a:br>
              <a:rPr lang="en-IN" sz="1200" dirty="0">
                <a:effectLst/>
                <a:latin typeface="Times New Roman" panose="02020603050405020304" pitchFamily="18" charset="0"/>
                <a:ea typeface="Arial" panose="020B0604020202020204" pitchFamily="34" charset="0"/>
                <a:cs typeface="Times New Roman" panose="02020603050405020304" pitchFamily="18" charset="0"/>
              </a:rPr>
            </a:br>
            <a:r>
              <a:rPr lang="en-IN" sz="1200" dirty="0">
                <a:effectLst/>
                <a:latin typeface="Times New Roman" panose="02020603050405020304" pitchFamily="18" charset="0"/>
                <a:ea typeface="Arial" panose="020B0604020202020204" pitchFamily="34" charset="0"/>
                <a:cs typeface="Times New Roman" panose="02020603050405020304" pitchFamily="18" charset="0"/>
              </a:rPr>
              <a:t>Under the Guidance of:</a:t>
            </a:r>
            <a:br>
              <a:rPr lang="en-IN" sz="1200" dirty="0">
                <a:effectLst/>
                <a:latin typeface="Times New Roman" panose="02020603050405020304" pitchFamily="18" charset="0"/>
                <a:ea typeface="Arial" panose="020B0604020202020204" pitchFamily="34" charset="0"/>
                <a:cs typeface="Times New Roman" panose="02020603050405020304" pitchFamily="18" charset="0"/>
              </a:rPr>
            </a:br>
            <a:r>
              <a:rPr lang="en-IN" sz="1200" dirty="0" err="1">
                <a:effectLst/>
                <a:latin typeface="Times New Roman" panose="02020603050405020304" pitchFamily="18" charset="0"/>
                <a:ea typeface="Arial" panose="020B0604020202020204" pitchFamily="34" charset="0"/>
                <a:cs typeface="Times New Roman" panose="02020603050405020304" pitchFamily="18" charset="0"/>
              </a:rPr>
              <a:t>Dr.</a:t>
            </a:r>
            <a:r>
              <a:rPr lang="en-IN" sz="1200" dirty="0">
                <a:effectLst/>
                <a:latin typeface="Times New Roman" panose="02020603050405020304" pitchFamily="18" charset="0"/>
                <a:ea typeface="Arial" panose="020B0604020202020204" pitchFamily="34" charset="0"/>
                <a:cs typeface="Times New Roman" panose="02020603050405020304" pitchFamily="18" charset="0"/>
              </a:rPr>
              <a:t> </a:t>
            </a:r>
            <a:r>
              <a:rPr lang="en-IN" sz="1200" dirty="0" err="1">
                <a:latin typeface="Times New Roman" panose="02020603050405020304" pitchFamily="18" charset="0"/>
                <a:ea typeface="Arial" panose="020B0604020202020204" pitchFamily="34" charset="0"/>
                <a:cs typeface="Times New Roman" panose="02020603050405020304" pitchFamily="18" charset="0"/>
              </a:rPr>
              <a:t>Randhir</a:t>
            </a:r>
            <a:r>
              <a:rPr lang="en-IN" sz="1200" dirty="0">
                <a:latin typeface="Times New Roman" panose="02020603050405020304" pitchFamily="18" charset="0"/>
                <a:ea typeface="Arial" panose="020B0604020202020204" pitchFamily="34" charset="0"/>
                <a:cs typeface="Times New Roman" panose="02020603050405020304" pitchFamily="18" charset="0"/>
              </a:rPr>
              <a:t> Kumar</a:t>
            </a:r>
            <a:br>
              <a:rPr lang="en-IN" sz="1200" dirty="0">
                <a:latin typeface="Times New Roman" panose="02020603050405020304" pitchFamily="18" charset="0"/>
                <a:ea typeface="Arial" panose="020B0604020202020204" pitchFamily="34" charset="0"/>
                <a:cs typeface="Times New Roman" panose="02020603050405020304" pitchFamily="18" charset="0"/>
              </a:rPr>
            </a:br>
            <a:br>
              <a:rPr lang="en-IN" sz="1200" dirty="0">
                <a:latin typeface="Times New Roman" panose="02020603050405020304" pitchFamily="18" charset="0"/>
                <a:ea typeface="Arial" panose="020B0604020202020204" pitchFamily="34" charset="0"/>
                <a:cs typeface="Times New Roman" panose="02020603050405020304" pitchFamily="18" charset="0"/>
              </a:rPr>
            </a:br>
            <a:r>
              <a:rPr lang="en-IN" sz="1200" dirty="0">
                <a:latin typeface="Times New Roman" panose="02020603050405020304" pitchFamily="18" charset="0"/>
                <a:ea typeface="Arial" panose="020B0604020202020204" pitchFamily="34" charset="0"/>
                <a:cs typeface="Times New Roman" panose="02020603050405020304" pitchFamily="18" charset="0"/>
              </a:rPr>
              <a:t>SRM University AP, </a:t>
            </a:r>
            <a:r>
              <a:rPr lang="en-IN" sz="1200" dirty="0" err="1">
                <a:latin typeface="Times New Roman" panose="02020603050405020304" pitchFamily="18" charset="0"/>
                <a:ea typeface="Arial" panose="020B0604020202020204" pitchFamily="34" charset="0"/>
                <a:cs typeface="Times New Roman" panose="02020603050405020304" pitchFamily="18" charset="0"/>
              </a:rPr>
              <a:t>AndhrA</a:t>
            </a:r>
            <a:r>
              <a:rPr lang="en-IN" sz="1200" dirty="0">
                <a:latin typeface="Times New Roman" panose="02020603050405020304" pitchFamily="18" charset="0"/>
                <a:ea typeface="Arial" panose="020B0604020202020204" pitchFamily="34" charset="0"/>
                <a:cs typeface="Times New Roman" panose="02020603050405020304" pitchFamily="18" charset="0"/>
              </a:rPr>
              <a:t> Pradesh</a:t>
            </a:r>
            <a:br>
              <a:rPr lang="en-IN" sz="1200" dirty="0">
                <a:effectLst/>
                <a:latin typeface="Times New Roman" panose="02020603050405020304" pitchFamily="18" charset="0"/>
                <a:ea typeface="Arial" panose="020B0604020202020204" pitchFamily="34"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C53AE5D-C3FC-6FBC-F6D8-175F57B42639}"/>
              </a:ext>
            </a:extLst>
          </p:cNvPr>
          <p:cNvSpPr>
            <a:spLocks noGrp="1"/>
          </p:cNvSpPr>
          <p:nvPr>
            <p:ph type="subTitle" idx="1"/>
          </p:nvPr>
        </p:nvSpPr>
        <p:spPr>
          <a:xfrm>
            <a:off x="804672" y="733044"/>
            <a:ext cx="4486655" cy="1239894"/>
          </a:xfrm>
        </p:spPr>
        <p:txBody>
          <a:bodyPr>
            <a:normAutofit/>
          </a:bodyPr>
          <a:lstStyle/>
          <a:p>
            <a:r>
              <a:rPr lang="en-IN" b="1" dirty="0">
                <a:latin typeface="Times New Roman" panose="02020603050405020304" pitchFamily="18" charset="0"/>
                <a:cs typeface="Times New Roman" panose="02020603050405020304" pitchFamily="18" charset="0"/>
              </a:rPr>
              <a:t>EV Charging Station Finding Web App</a:t>
            </a:r>
            <a:endParaRPr lang="en-US" b="1"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2F0F143B-3981-4FC2-BB15-0C5867633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1A3A34B-6E53-7021-8E79-2ADA680A6FB6}"/>
              </a:ext>
            </a:extLst>
          </p:cNvPr>
          <p:cNvPicPr>
            <a:picLocks noChangeAspect="1"/>
          </p:cNvPicPr>
          <p:nvPr/>
        </p:nvPicPr>
        <p:blipFill>
          <a:blip r:embed="rId2" cstate="print">
            <a:extLst>
              <a:ext uri="{28A0092B-C50C-407E-A947-70E740481C1C}">
                <a14:useLocalDpi xmlns:a14="http://schemas.microsoft.com/office/drawing/2010/main" val="0"/>
              </a:ext>
            </a:extLst>
          </a:blip>
          <a:srcRect t="17638"/>
          <a:stretch/>
        </p:blipFill>
        <p:spPr>
          <a:xfrm>
            <a:off x="6096000" y="3542479"/>
            <a:ext cx="6014926" cy="3096260"/>
          </a:xfrm>
          <a:prstGeom prst="rect">
            <a:avLst/>
          </a:prstGeom>
        </p:spPr>
      </p:pic>
      <p:pic>
        <p:nvPicPr>
          <p:cNvPr id="5" name="Picture 4">
            <a:extLst>
              <a:ext uri="{FF2B5EF4-FFF2-40B4-BE49-F238E27FC236}">
                <a16:creationId xmlns:a16="http://schemas.microsoft.com/office/drawing/2014/main" id="{CEE4F936-3603-A3D8-AF52-F9105D4D6C54}"/>
              </a:ext>
            </a:extLst>
          </p:cNvPr>
          <p:cNvPicPr>
            <a:picLocks noChangeAspect="1"/>
          </p:cNvPicPr>
          <p:nvPr/>
        </p:nvPicPr>
        <p:blipFill>
          <a:blip r:embed="rId3" cstate="print">
            <a:extLst>
              <a:ext uri="{28A0092B-C50C-407E-A947-70E740481C1C}">
                <a14:useLocalDpi xmlns:a14="http://schemas.microsoft.com/office/drawing/2010/main" val="0"/>
              </a:ext>
            </a:extLst>
          </a:blip>
          <a:srcRect t="9754"/>
          <a:stretch/>
        </p:blipFill>
        <p:spPr>
          <a:xfrm>
            <a:off x="6096000" y="0"/>
            <a:ext cx="6095999" cy="3438374"/>
          </a:xfrm>
          <a:prstGeom prst="rect">
            <a:avLst/>
          </a:prstGeom>
        </p:spPr>
      </p:pic>
    </p:spTree>
    <p:extLst>
      <p:ext uri="{BB962C8B-B14F-4D97-AF65-F5344CB8AC3E}">
        <p14:creationId xmlns:p14="http://schemas.microsoft.com/office/powerpoint/2010/main" val="1813561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2C036-CB7A-DC75-913E-0697EBFF4DAA}"/>
              </a:ext>
            </a:extLst>
          </p:cNvPr>
          <p:cNvSpPr>
            <a:spLocks noGrp="1"/>
          </p:cNvSpPr>
          <p:nvPr>
            <p:ph type="title"/>
          </p:nvPr>
        </p:nvSpPr>
        <p:spPr>
          <a:xfrm>
            <a:off x="804672" y="978776"/>
            <a:ext cx="5925310" cy="1174991"/>
          </a:xfrm>
        </p:spPr>
        <p:txBody>
          <a:bodyPr>
            <a:normAutofit/>
          </a:bodyPr>
          <a:lstStyle/>
          <a:p>
            <a:r>
              <a:rPr lang="en-US" sz="2400"/>
              <a:t>Introduction</a:t>
            </a:r>
            <a:endParaRPr lang="en-US" sz="2400" dirty="0"/>
          </a:p>
        </p:txBody>
      </p:sp>
      <p:sp>
        <p:nvSpPr>
          <p:cNvPr id="3" name="Content Placeholder 2">
            <a:extLst>
              <a:ext uri="{FF2B5EF4-FFF2-40B4-BE49-F238E27FC236}">
                <a16:creationId xmlns:a16="http://schemas.microsoft.com/office/drawing/2014/main" id="{A3770CFD-FF92-0DD5-7BBE-4DEC59446D5D}"/>
              </a:ext>
            </a:extLst>
          </p:cNvPr>
          <p:cNvSpPr>
            <a:spLocks noGrp="1"/>
          </p:cNvSpPr>
          <p:nvPr>
            <p:ph idx="1"/>
          </p:nvPr>
        </p:nvSpPr>
        <p:spPr>
          <a:xfrm>
            <a:off x="804672" y="2640692"/>
            <a:ext cx="5925310" cy="3255252"/>
          </a:xfrm>
        </p:spPr>
        <p:txBody>
          <a:bodyPr>
            <a:normAutofit/>
          </a:bodyPr>
          <a:lstStyle/>
          <a:p>
            <a:pPr marL="228600" indent="0">
              <a:lnSpc>
                <a:spcPct val="90000"/>
              </a:lnSpc>
              <a:buNone/>
            </a:pPr>
            <a:r>
              <a:rPr lang="en-IN" sz="1400" dirty="0"/>
              <a:t>The EV Charging Management System is a web-based platform designed to simplify and enhance the experience of electric vehicle (EV) users.</a:t>
            </a:r>
          </a:p>
          <a:p>
            <a:pPr marL="228600" indent="0">
              <a:lnSpc>
                <a:spcPct val="90000"/>
              </a:lnSpc>
              <a:buNone/>
            </a:pPr>
            <a:r>
              <a:rPr lang="en-IN" sz="1400" dirty="0"/>
              <a:t>With the increasing adoption of EVs, the demand for reliable and accessible charging infrastructure is also growing. However, EV users often face challenges such as locating available charging stations, planning long-distance travel, and dealing with wait times due to unavailable slots.</a:t>
            </a:r>
          </a:p>
          <a:p>
            <a:pPr marL="228600" indent="0">
              <a:lnSpc>
                <a:spcPct val="90000"/>
              </a:lnSpc>
              <a:buNone/>
            </a:pPr>
            <a:r>
              <a:rPr lang="en-IN" sz="1400" dirty="0"/>
              <a:t>Our solution addresses these issues by providing:</a:t>
            </a:r>
          </a:p>
          <a:p>
            <a:pPr>
              <a:lnSpc>
                <a:spcPct val="90000"/>
              </a:lnSpc>
              <a:buFont typeface="Arial" panose="020B0604020202020204" pitchFamily="34" charset="0"/>
              <a:buChar char="•"/>
            </a:pPr>
            <a:r>
              <a:rPr lang="en-IN" sz="1400" dirty="0"/>
              <a:t>Real-time station discovery</a:t>
            </a:r>
          </a:p>
          <a:p>
            <a:pPr>
              <a:lnSpc>
                <a:spcPct val="90000"/>
              </a:lnSpc>
              <a:buFont typeface="Arial" panose="020B0604020202020204" pitchFamily="34" charset="0"/>
              <a:buChar char="•"/>
            </a:pPr>
            <a:r>
              <a:rPr lang="en-IN" sz="1400" dirty="0"/>
              <a:t>Slot booking and reservation</a:t>
            </a:r>
          </a:p>
          <a:p>
            <a:pPr marL="228600" indent="0">
              <a:lnSpc>
                <a:spcPct val="90000"/>
              </a:lnSpc>
              <a:buNone/>
            </a:pPr>
            <a:r>
              <a:rPr lang="en-IN" sz="1400" dirty="0"/>
              <a:t>The system also includes role-based modules for users, admins, and station owners to ensure seamless operations and efficient management of charging stations.</a:t>
            </a:r>
          </a:p>
          <a:p>
            <a:pPr>
              <a:lnSpc>
                <a:spcPct val="90000"/>
              </a:lnSpc>
            </a:pPr>
            <a:endParaRPr lang="en-US" sz="1400" dirty="0"/>
          </a:p>
        </p:txBody>
      </p:sp>
      <p:pic>
        <p:nvPicPr>
          <p:cNvPr id="5" name="Picture 4" descr="Long exposure of lights">
            <a:extLst>
              <a:ext uri="{FF2B5EF4-FFF2-40B4-BE49-F238E27FC236}">
                <a16:creationId xmlns:a16="http://schemas.microsoft.com/office/drawing/2014/main" id="{B3AE99C7-34F7-5007-1E26-7A9D0CABB5A0}"/>
              </a:ext>
            </a:extLst>
          </p:cNvPr>
          <p:cNvPicPr>
            <a:picLocks noChangeAspect="1"/>
          </p:cNvPicPr>
          <p:nvPr/>
        </p:nvPicPr>
        <p:blipFill>
          <a:blip r:embed="rId2"/>
          <a:srcRect l="34978" r="19691" b="-1"/>
          <a:stretch/>
        </p:blipFill>
        <p:spPr>
          <a:xfrm>
            <a:off x="7534654" y="10"/>
            <a:ext cx="4657345" cy="6857990"/>
          </a:xfrm>
          <a:prstGeom prst="rect">
            <a:avLst/>
          </a:prstGeom>
        </p:spPr>
      </p:pic>
    </p:spTree>
    <p:extLst>
      <p:ext uri="{BB962C8B-B14F-4D97-AF65-F5344CB8AC3E}">
        <p14:creationId xmlns:p14="http://schemas.microsoft.com/office/powerpoint/2010/main" val="2823058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45E11-E9AC-3349-FB22-6A8341BF5BCB}"/>
              </a:ext>
            </a:extLst>
          </p:cNvPr>
          <p:cNvSpPr>
            <a:spLocks noGrp="1"/>
          </p:cNvSpPr>
          <p:nvPr>
            <p:ph type="title"/>
          </p:nvPr>
        </p:nvSpPr>
        <p:spPr/>
        <p:txBody>
          <a:bodyPr/>
          <a:lstStyle/>
          <a:p>
            <a:r>
              <a:rPr lang="en-IN" dirty="0"/>
              <a:t>System Overview</a:t>
            </a:r>
            <a:endParaRPr lang="en-US" dirty="0"/>
          </a:p>
        </p:txBody>
      </p:sp>
      <p:sp>
        <p:nvSpPr>
          <p:cNvPr id="3" name="Content Placeholder 2">
            <a:extLst>
              <a:ext uri="{FF2B5EF4-FFF2-40B4-BE49-F238E27FC236}">
                <a16:creationId xmlns:a16="http://schemas.microsoft.com/office/drawing/2014/main" id="{54A6DDE7-3389-303D-4C7D-0980D89AA21C}"/>
              </a:ext>
            </a:extLst>
          </p:cNvPr>
          <p:cNvSpPr>
            <a:spLocks noGrp="1"/>
          </p:cNvSpPr>
          <p:nvPr>
            <p:ph idx="1"/>
          </p:nvPr>
        </p:nvSpPr>
        <p:spPr/>
        <p:txBody>
          <a:bodyPr/>
          <a:lstStyle/>
          <a:p>
            <a:pPr marL="0" indent="0">
              <a:buNone/>
            </a:pPr>
            <a:r>
              <a:rPr lang="en-IN" dirty="0"/>
              <a:t>Modules:</a:t>
            </a:r>
          </a:p>
          <a:p>
            <a:pPr marL="0" indent="0">
              <a:buNone/>
            </a:pPr>
            <a:r>
              <a:rPr lang="en-IN" dirty="0"/>
              <a:t>• User: Booking, searching, managing EV profiles</a:t>
            </a:r>
          </a:p>
          <a:p>
            <a:pPr marL="0" indent="0">
              <a:buNone/>
            </a:pPr>
            <a:r>
              <a:rPr lang="en-IN" dirty="0"/>
              <a:t>• Admin: Station and user management</a:t>
            </a:r>
          </a:p>
          <a:p>
            <a:pPr marL="0" indent="0">
              <a:buNone/>
            </a:pPr>
            <a:r>
              <a:rPr lang="en-IN" dirty="0"/>
              <a:t>• Station Owner: Manage availability and bookings</a:t>
            </a:r>
          </a:p>
          <a:p>
            <a:pPr marL="0" indent="0">
              <a:buNone/>
            </a:pPr>
            <a:r>
              <a:rPr lang="en-IN" dirty="0"/>
              <a:t>Tech: </a:t>
            </a:r>
            <a:r>
              <a:rPr lang="en-IN" dirty="0" err="1"/>
              <a:t>React.js</a:t>
            </a:r>
            <a:r>
              <a:rPr lang="en-IN" dirty="0"/>
              <a:t>, </a:t>
            </a:r>
            <a:r>
              <a:rPr lang="en-IN" dirty="0" err="1"/>
              <a:t>Next.js</a:t>
            </a:r>
            <a:r>
              <a:rPr lang="en-IN" dirty="0"/>
              <a:t>, Firebase, Google Maps API, JWT</a:t>
            </a:r>
          </a:p>
          <a:p>
            <a:pPr marL="0" indent="0">
              <a:buNone/>
            </a:pPr>
            <a:endParaRPr lang="en-US" dirty="0"/>
          </a:p>
        </p:txBody>
      </p:sp>
    </p:spTree>
    <p:extLst>
      <p:ext uri="{BB962C8B-B14F-4D97-AF65-F5344CB8AC3E}">
        <p14:creationId xmlns:p14="http://schemas.microsoft.com/office/powerpoint/2010/main" val="2526546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D57D49-02DB-D7D3-B231-2A548F39EB51}"/>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dirty="0"/>
              <a:t>Design – Use case diagram</a:t>
            </a:r>
          </a:p>
        </p:txBody>
      </p:sp>
      <p:pic>
        <p:nvPicPr>
          <p:cNvPr id="4" name="image8.png">
            <a:extLst>
              <a:ext uri="{FF2B5EF4-FFF2-40B4-BE49-F238E27FC236}">
                <a16:creationId xmlns:a16="http://schemas.microsoft.com/office/drawing/2014/main" id="{563B7471-93E3-48D4-F682-9562BDA11932}"/>
              </a:ext>
            </a:extLst>
          </p:cNvPr>
          <p:cNvPicPr>
            <a:picLocks noGrp="1"/>
          </p:cNvPicPr>
          <p:nvPr>
            <p:ph idx="1"/>
          </p:nvPr>
        </p:nvPicPr>
        <p:blipFill>
          <a:blip r:embed="rId2"/>
          <a:stretch>
            <a:fillRect/>
          </a:stretch>
        </p:blipFill>
        <p:spPr>
          <a:xfrm>
            <a:off x="5458001" y="640079"/>
            <a:ext cx="6095711" cy="5416475"/>
          </a:xfrm>
          <a:prstGeom prst="rect">
            <a:avLst/>
          </a:prstGeom>
        </p:spPr>
      </p:pic>
    </p:spTree>
    <p:extLst>
      <p:ext uri="{BB962C8B-B14F-4D97-AF65-F5344CB8AC3E}">
        <p14:creationId xmlns:p14="http://schemas.microsoft.com/office/powerpoint/2010/main" val="3957914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362E07-C702-F984-9885-6377636F09AA}"/>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dirty="0"/>
              <a:t>Sequence diagram</a:t>
            </a:r>
          </a:p>
        </p:txBody>
      </p:sp>
      <p:pic>
        <p:nvPicPr>
          <p:cNvPr id="4" name="image9.png">
            <a:extLst>
              <a:ext uri="{FF2B5EF4-FFF2-40B4-BE49-F238E27FC236}">
                <a16:creationId xmlns:a16="http://schemas.microsoft.com/office/drawing/2014/main" id="{6CED414F-3E9A-9FDD-8177-CA0D7DE98B76}"/>
              </a:ext>
            </a:extLst>
          </p:cNvPr>
          <p:cNvPicPr>
            <a:picLocks noGrp="1"/>
          </p:cNvPicPr>
          <p:nvPr>
            <p:ph idx="1"/>
          </p:nvPr>
        </p:nvPicPr>
        <p:blipFill>
          <a:blip r:embed="rId2"/>
          <a:stretch>
            <a:fillRect/>
          </a:stretch>
        </p:blipFill>
        <p:spPr>
          <a:xfrm>
            <a:off x="5368066" y="365760"/>
            <a:ext cx="6019262" cy="5680038"/>
          </a:xfrm>
          <a:prstGeom prst="rect">
            <a:avLst/>
          </a:prstGeom>
        </p:spPr>
      </p:pic>
    </p:spTree>
    <p:extLst>
      <p:ext uri="{BB962C8B-B14F-4D97-AF65-F5344CB8AC3E}">
        <p14:creationId xmlns:p14="http://schemas.microsoft.com/office/powerpoint/2010/main" val="2292273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69DD4-14EA-2047-3FA8-28E8F1B3CE8B}"/>
              </a:ext>
            </a:extLst>
          </p:cNvPr>
          <p:cNvSpPr>
            <a:spLocks noGrp="1"/>
          </p:cNvSpPr>
          <p:nvPr>
            <p:ph type="title"/>
          </p:nvPr>
        </p:nvSpPr>
        <p:spPr/>
        <p:txBody>
          <a:bodyPr/>
          <a:lstStyle/>
          <a:p>
            <a:r>
              <a:rPr lang="en-IN" dirty="0"/>
              <a:t>Model Used: Agile Software Development Model</a:t>
            </a:r>
            <a:endParaRPr lang="en-US" dirty="0"/>
          </a:p>
        </p:txBody>
      </p:sp>
      <p:sp>
        <p:nvSpPr>
          <p:cNvPr id="3" name="Content Placeholder 2">
            <a:extLst>
              <a:ext uri="{FF2B5EF4-FFF2-40B4-BE49-F238E27FC236}">
                <a16:creationId xmlns:a16="http://schemas.microsoft.com/office/drawing/2014/main" id="{71DBD945-1C68-BC36-15A1-DB189CF461E7}"/>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IN" b="1" dirty="0"/>
              <a:t>Flexibility:</a:t>
            </a:r>
            <a:r>
              <a:rPr lang="en-IN" dirty="0"/>
              <a:t> Agile allows for adaptive planning and continuous improvement, which is ideal for a project that depends on real-time data and user feedback.</a:t>
            </a:r>
          </a:p>
          <a:p>
            <a:pPr>
              <a:buFont typeface="Arial" panose="020B0604020202020204" pitchFamily="34" charset="0"/>
              <a:buChar char="•"/>
            </a:pPr>
            <a:r>
              <a:rPr lang="en-IN" b="1" dirty="0"/>
              <a:t>Incremental Delivery:</a:t>
            </a:r>
            <a:r>
              <a:rPr lang="en-IN" dirty="0"/>
              <a:t> The EV Charging Management System includes complex features like real-time slot booking, Google Maps API integration, and role-based access. Agile helps break these into smaller, manageable tasks.</a:t>
            </a:r>
          </a:p>
          <a:p>
            <a:pPr>
              <a:buFont typeface="Arial" panose="020B0604020202020204" pitchFamily="34" charset="0"/>
              <a:buChar char="•"/>
            </a:pPr>
            <a:r>
              <a:rPr lang="en-IN" b="1" dirty="0"/>
              <a:t>User-Centric Approach:</a:t>
            </a:r>
            <a:r>
              <a:rPr lang="en-IN" dirty="0"/>
              <a:t> Frequent updates ensure that the platform evolves based on user needs and testing outcomes.</a:t>
            </a:r>
          </a:p>
          <a:p>
            <a:pPr>
              <a:buFont typeface="Arial" panose="020B0604020202020204" pitchFamily="34" charset="0"/>
              <a:buChar char="•"/>
            </a:pPr>
            <a:r>
              <a:rPr lang="en-IN" b="1" dirty="0"/>
              <a:t>Faster Time to Market:</a:t>
            </a:r>
            <a:r>
              <a:rPr lang="en-IN" dirty="0"/>
              <a:t> Regular iterations mean that core features can be released early and improved over time.</a:t>
            </a:r>
          </a:p>
          <a:p>
            <a:pPr>
              <a:buFont typeface="Arial" panose="020B0604020202020204" pitchFamily="34" charset="0"/>
              <a:buChar char="•"/>
            </a:pPr>
            <a:r>
              <a:rPr lang="en-IN" b="1" dirty="0"/>
              <a:t>Risk Mitigation:</a:t>
            </a:r>
            <a:r>
              <a:rPr lang="en-IN" dirty="0"/>
              <a:t> Early testing and feedback loops help identify and fix issues quickly, reducing the chance of major failures post-deployment.</a:t>
            </a:r>
          </a:p>
          <a:p>
            <a:pPr marL="0" indent="0">
              <a:buNone/>
            </a:pPr>
            <a:endParaRPr lang="en-US" dirty="0"/>
          </a:p>
        </p:txBody>
      </p:sp>
    </p:spTree>
    <p:extLst>
      <p:ext uri="{BB962C8B-B14F-4D97-AF65-F5344CB8AC3E}">
        <p14:creationId xmlns:p14="http://schemas.microsoft.com/office/powerpoint/2010/main" val="1352262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78C19-1C37-31A2-FA67-E141183C21CE}"/>
              </a:ext>
            </a:extLst>
          </p:cNvPr>
          <p:cNvSpPr>
            <a:spLocks noGrp="1"/>
          </p:cNvSpPr>
          <p:nvPr>
            <p:ph type="title"/>
          </p:nvPr>
        </p:nvSpPr>
        <p:spPr>
          <a:xfrm>
            <a:off x="2231136" y="333486"/>
            <a:ext cx="7729728" cy="1194099"/>
          </a:xfrm>
        </p:spPr>
        <p:txBody>
          <a:bodyPr>
            <a:normAutofit fontScale="90000"/>
          </a:bodyPr>
          <a:lstStyle/>
          <a:p>
            <a:r>
              <a:rPr lang="en-IN" sz="1800" b="1" kern="0" dirty="0">
                <a:effectLst/>
                <a:latin typeface="Arial" panose="020B0604020202020204" pitchFamily="34" charset="0"/>
              </a:rPr>
              <a:t>Visual Overview Of Web Application Components</a:t>
            </a:r>
            <a:br>
              <a:rPr lang="en-IN" sz="1800" b="1" kern="0" dirty="0">
                <a:effectLst/>
                <a:latin typeface="Arial" panose="020B0604020202020204" pitchFamily="34" charset="0"/>
              </a:rPr>
            </a:br>
            <a:endParaRPr lang="en-US" dirty="0"/>
          </a:p>
        </p:txBody>
      </p:sp>
      <p:pic>
        <p:nvPicPr>
          <p:cNvPr id="4" name="Content Placeholder 3">
            <a:extLst>
              <a:ext uri="{FF2B5EF4-FFF2-40B4-BE49-F238E27FC236}">
                <a16:creationId xmlns:a16="http://schemas.microsoft.com/office/drawing/2014/main" id="{F561D43F-CB03-6364-4E0F-9AA0757BCCA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2400" y="1759466"/>
            <a:ext cx="5943600" cy="3708400"/>
          </a:xfrm>
          <a:prstGeom prst="rect">
            <a:avLst/>
          </a:prstGeom>
        </p:spPr>
      </p:pic>
      <p:sp>
        <p:nvSpPr>
          <p:cNvPr id="5" name="TextBox 4">
            <a:extLst>
              <a:ext uri="{FF2B5EF4-FFF2-40B4-BE49-F238E27FC236}">
                <a16:creationId xmlns:a16="http://schemas.microsoft.com/office/drawing/2014/main" id="{43CAF223-BE05-E6B7-63E8-7DA218647123}"/>
              </a:ext>
            </a:extLst>
          </p:cNvPr>
          <p:cNvSpPr txBox="1"/>
          <p:nvPr/>
        </p:nvSpPr>
        <p:spPr>
          <a:xfrm>
            <a:off x="5473849" y="5706097"/>
            <a:ext cx="1549101" cy="369332"/>
          </a:xfrm>
          <a:prstGeom prst="rect">
            <a:avLst/>
          </a:prstGeom>
          <a:noFill/>
        </p:spPr>
        <p:txBody>
          <a:bodyPr wrap="square" rtlCol="0">
            <a:spAutoFit/>
          </a:bodyPr>
          <a:lstStyle/>
          <a:p>
            <a:r>
              <a:rPr lang="en-US" dirty="0"/>
              <a:t>Home Page</a:t>
            </a:r>
          </a:p>
        </p:txBody>
      </p:sp>
      <p:pic>
        <p:nvPicPr>
          <p:cNvPr id="6" name="Picture 5">
            <a:extLst>
              <a:ext uri="{FF2B5EF4-FFF2-40B4-BE49-F238E27FC236}">
                <a16:creationId xmlns:a16="http://schemas.microsoft.com/office/drawing/2014/main" id="{41DE2B77-F2AD-6A85-3285-CEE4A30519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8400" y="1759466"/>
            <a:ext cx="5943600" cy="3714750"/>
          </a:xfrm>
          <a:prstGeom prst="rect">
            <a:avLst/>
          </a:prstGeom>
        </p:spPr>
      </p:pic>
    </p:spTree>
    <p:extLst>
      <p:ext uri="{BB962C8B-B14F-4D97-AF65-F5344CB8AC3E}">
        <p14:creationId xmlns:p14="http://schemas.microsoft.com/office/powerpoint/2010/main" val="3561458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5D27E9B-2BA3-7948-1410-136A22ECC9D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8068" y="327025"/>
            <a:ext cx="4971658" cy="3101975"/>
          </a:xfrm>
          <a:prstGeom prst="rect">
            <a:avLst/>
          </a:prstGeom>
        </p:spPr>
      </p:pic>
      <p:sp>
        <p:nvSpPr>
          <p:cNvPr id="5" name="TextBox 4">
            <a:extLst>
              <a:ext uri="{FF2B5EF4-FFF2-40B4-BE49-F238E27FC236}">
                <a16:creationId xmlns:a16="http://schemas.microsoft.com/office/drawing/2014/main" id="{52471729-A41A-01AA-839D-6992EF395E7B}"/>
              </a:ext>
            </a:extLst>
          </p:cNvPr>
          <p:cNvSpPr txBox="1"/>
          <p:nvPr/>
        </p:nvSpPr>
        <p:spPr>
          <a:xfrm>
            <a:off x="1712497" y="734"/>
            <a:ext cx="2666998" cy="369332"/>
          </a:xfrm>
          <a:prstGeom prst="rect">
            <a:avLst/>
          </a:prstGeom>
          <a:noFill/>
        </p:spPr>
        <p:txBody>
          <a:bodyPr wrap="square" rtlCol="0">
            <a:spAutoFit/>
          </a:bodyPr>
          <a:lstStyle/>
          <a:p>
            <a:r>
              <a:rPr lang="en-IN" sz="1800" b="1" dirty="0">
                <a:effectLst/>
                <a:latin typeface="Times New Roman" panose="02020603050405020304" pitchFamily="18" charset="0"/>
                <a:ea typeface="Arial" panose="020B0604020202020204" pitchFamily="34" charset="0"/>
              </a:rPr>
              <a:t>Role Selection Page</a:t>
            </a:r>
            <a:r>
              <a:rPr lang="en-IN" dirty="0">
                <a:effectLst/>
              </a:rPr>
              <a:t> </a:t>
            </a:r>
            <a:endParaRPr lang="en-US" dirty="0"/>
          </a:p>
        </p:txBody>
      </p:sp>
      <p:pic>
        <p:nvPicPr>
          <p:cNvPr id="6" name="Picture 5">
            <a:extLst>
              <a:ext uri="{FF2B5EF4-FFF2-40B4-BE49-F238E27FC236}">
                <a16:creationId xmlns:a16="http://schemas.microsoft.com/office/drawing/2014/main" id="{E693A074-D95C-1BAD-B05B-684F766B15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8069" y="3457274"/>
            <a:ext cx="4971658" cy="3302301"/>
          </a:xfrm>
          <a:prstGeom prst="rect">
            <a:avLst/>
          </a:prstGeom>
        </p:spPr>
      </p:pic>
      <p:sp>
        <p:nvSpPr>
          <p:cNvPr id="7" name="TextBox 6">
            <a:extLst>
              <a:ext uri="{FF2B5EF4-FFF2-40B4-BE49-F238E27FC236}">
                <a16:creationId xmlns:a16="http://schemas.microsoft.com/office/drawing/2014/main" id="{71BE2C7C-17A7-5CD8-F5A9-D65F4A608902}"/>
              </a:ext>
            </a:extLst>
          </p:cNvPr>
          <p:cNvSpPr txBox="1"/>
          <p:nvPr/>
        </p:nvSpPr>
        <p:spPr>
          <a:xfrm>
            <a:off x="5181599" y="3581851"/>
            <a:ext cx="1604211" cy="1200329"/>
          </a:xfrm>
          <a:prstGeom prst="rect">
            <a:avLst/>
          </a:prstGeom>
          <a:noFill/>
        </p:spPr>
        <p:txBody>
          <a:bodyPr wrap="square" rtlCol="0">
            <a:spAutoFit/>
          </a:bodyPr>
          <a:lstStyle/>
          <a:p>
            <a:r>
              <a:rPr lang="en-IN" sz="1800" b="1" u="none" strike="noStrike" dirty="0">
                <a:effectLst/>
                <a:latin typeface="Times New Roman" panose="02020603050405020304" pitchFamily="18" charset="0"/>
                <a:ea typeface="Arial" panose="020B0604020202020204" pitchFamily="34" charset="0"/>
              </a:rPr>
              <a:t>User Login/Signup Page</a:t>
            </a:r>
            <a:endParaRPr lang="en-IN" sz="1800" u="none" strike="noStrike" dirty="0">
              <a:effectLst/>
              <a:latin typeface="Arial" panose="020B0604020202020204" pitchFamily="34" charset="0"/>
              <a:ea typeface="Arial" panose="020B0604020202020204" pitchFamily="34" charset="0"/>
            </a:endParaRPr>
          </a:p>
          <a:p>
            <a:endParaRPr lang="en-US" dirty="0"/>
          </a:p>
        </p:txBody>
      </p:sp>
      <p:pic>
        <p:nvPicPr>
          <p:cNvPr id="8" name="Picture 7">
            <a:extLst>
              <a:ext uri="{FF2B5EF4-FFF2-40B4-BE49-F238E27FC236}">
                <a16:creationId xmlns:a16="http://schemas.microsoft.com/office/drawing/2014/main" id="{6BAF2074-A06C-053D-FBFF-8CAC7A99E8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70036" y="323900"/>
            <a:ext cx="4963719" cy="3101975"/>
          </a:xfrm>
          <a:prstGeom prst="rect">
            <a:avLst/>
          </a:prstGeom>
        </p:spPr>
      </p:pic>
      <p:pic>
        <p:nvPicPr>
          <p:cNvPr id="9" name="Picture 8">
            <a:extLst>
              <a:ext uri="{FF2B5EF4-FFF2-40B4-BE49-F238E27FC236}">
                <a16:creationId xmlns:a16="http://schemas.microsoft.com/office/drawing/2014/main" id="{6ED4F875-4E26-2BC8-A152-A9FB04610E4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70036" y="3581851"/>
            <a:ext cx="4971658" cy="3107287"/>
          </a:xfrm>
          <a:prstGeom prst="rect">
            <a:avLst/>
          </a:prstGeom>
        </p:spPr>
      </p:pic>
      <p:sp>
        <p:nvSpPr>
          <p:cNvPr id="10" name="TextBox 9">
            <a:extLst>
              <a:ext uri="{FF2B5EF4-FFF2-40B4-BE49-F238E27FC236}">
                <a16:creationId xmlns:a16="http://schemas.microsoft.com/office/drawing/2014/main" id="{4668C740-540B-8705-6EA9-73B6E67D5540}"/>
              </a:ext>
            </a:extLst>
          </p:cNvPr>
          <p:cNvSpPr txBox="1"/>
          <p:nvPr/>
        </p:nvSpPr>
        <p:spPr>
          <a:xfrm>
            <a:off x="8448178" y="734"/>
            <a:ext cx="2031325" cy="646331"/>
          </a:xfrm>
          <a:prstGeom prst="rect">
            <a:avLst/>
          </a:prstGeom>
          <a:noFill/>
        </p:spPr>
        <p:txBody>
          <a:bodyPr wrap="none" rtlCol="0">
            <a:spAutoFit/>
          </a:bodyPr>
          <a:lstStyle/>
          <a:p>
            <a:r>
              <a:rPr lang="en-IN" sz="1800" b="1" u="none" strike="noStrike" dirty="0">
                <a:effectLst/>
                <a:latin typeface="Times New Roman" panose="02020603050405020304" pitchFamily="18" charset="0"/>
                <a:ea typeface="Arial" panose="020B0604020202020204" pitchFamily="34" charset="0"/>
              </a:rPr>
              <a:t>Admin Login Page</a:t>
            </a:r>
            <a:endParaRPr lang="en-IN" sz="1800" u="none" strike="noStrike" dirty="0">
              <a:effectLst/>
              <a:latin typeface="Arial" panose="020B0604020202020204" pitchFamily="34" charset="0"/>
              <a:ea typeface="Arial" panose="020B0604020202020204" pitchFamily="34" charset="0"/>
            </a:endParaRPr>
          </a:p>
          <a:p>
            <a:endParaRPr lang="en-US" dirty="0"/>
          </a:p>
        </p:txBody>
      </p:sp>
      <p:sp>
        <p:nvSpPr>
          <p:cNvPr id="11" name="TextBox 10">
            <a:extLst>
              <a:ext uri="{FF2B5EF4-FFF2-40B4-BE49-F238E27FC236}">
                <a16:creationId xmlns:a16="http://schemas.microsoft.com/office/drawing/2014/main" id="{3B85C275-0F57-09EA-4166-04E333513A3D}"/>
              </a:ext>
            </a:extLst>
          </p:cNvPr>
          <p:cNvSpPr txBox="1"/>
          <p:nvPr/>
        </p:nvSpPr>
        <p:spPr>
          <a:xfrm>
            <a:off x="5386142" y="5610770"/>
            <a:ext cx="1772081" cy="923330"/>
          </a:xfrm>
          <a:prstGeom prst="rect">
            <a:avLst/>
          </a:prstGeom>
          <a:noFill/>
        </p:spPr>
        <p:txBody>
          <a:bodyPr wrap="square" rtlCol="0">
            <a:spAutoFit/>
          </a:bodyPr>
          <a:lstStyle/>
          <a:p>
            <a:r>
              <a:rPr lang="en-IN" sz="1800" b="1" u="none" strike="noStrike" dirty="0">
                <a:effectLst/>
                <a:latin typeface="Times New Roman" panose="02020603050405020304" pitchFamily="18" charset="0"/>
                <a:ea typeface="Arial" panose="020B0604020202020204" pitchFamily="34" charset="0"/>
              </a:rPr>
              <a:t>Station Owner Login Page</a:t>
            </a:r>
            <a:endParaRPr lang="en-IN" sz="1800" u="none" strike="noStrike" dirty="0">
              <a:effectLst/>
              <a:latin typeface="Arial" panose="020B0604020202020204" pitchFamily="34" charset="0"/>
              <a:ea typeface="Arial" panose="020B0604020202020204" pitchFamily="34" charset="0"/>
            </a:endParaRPr>
          </a:p>
          <a:p>
            <a:endParaRPr lang="en-US" dirty="0"/>
          </a:p>
        </p:txBody>
      </p:sp>
    </p:spTree>
    <p:extLst>
      <p:ext uri="{BB962C8B-B14F-4D97-AF65-F5344CB8AC3E}">
        <p14:creationId xmlns:p14="http://schemas.microsoft.com/office/powerpoint/2010/main" val="2762672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95EB9D-6F1A-06EA-79A9-2D4850DE54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0118" y="397031"/>
            <a:ext cx="4851482" cy="3031969"/>
          </a:xfrm>
          <a:prstGeom prst="rect">
            <a:avLst/>
          </a:prstGeom>
        </p:spPr>
      </p:pic>
      <p:pic>
        <p:nvPicPr>
          <p:cNvPr id="5" name="Picture 4">
            <a:extLst>
              <a:ext uri="{FF2B5EF4-FFF2-40B4-BE49-F238E27FC236}">
                <a16:creationId xmlns:a16="http://schemas.microsoft.com/office/drawing/2014/main" id="{AC618E85-16AA-EF52-2481-1AE1786AB7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0118" y="3429000"/>
            <a:ext cx="4851482" cy="3031969"/>
          </a:xfrm>
          <a:prstGeom prst="rect">
            <a:avLst/>
          </a:prstGeom>
        </p:spPr>
      </p:pic>
      <p:pic>
        <p:nvPicPr>
          <p:cNvPr id="6" name="Picture 5">
            <a:extLst>
              <a:ext uri="{FF2B5EF4-FFF2-40B4-BE49-F238E27FC236}">
                <a16:creationId xmlns:a16="http://schemas.microsoft.com/office/drawing/2014/main" id="{A5C92B11-DF8D-BCD1-535B-0B6566E119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46558" y="397031"/>
            <a:ext cx="5013158" cy="3031969"/>
          </a:xfrm>
          <a:prstGeom prst="rect">
            <a:avLst/>
          </a:prstGeom>
        </p:spPr>
      </p:pic>
      <p:pic>
        <p:nvPicPr>
          <p:cNvPr id="8" name="Picture 7">
            <a:extLst>
              <a:ext uri="{FF2B5EF4-FFF2-40B4-BE49-F238E27FC236}">
                <a16:creationId xmlns:a16="http://schemas.microsoft.com/office/drawing/2014/main" id="{16626CB8-B9ED-47CC-107D-C15CB790612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37661" y="3429000"/>
            <a:ext cx="5022055" cy="3138304"/>
          </a:xfrm>
          <a:prstGeom prst="rect">
            <a:avLst/>
          </a:prstGeom>
        </p:spPr>
      </p:pic>
      <p:sp>
        <p:nvSpPr>
          <p:cNvPr id="9" name="TextBox 8">
            <a:extLst>
              <a:ext uri="{FF2B5EF4-FFF2-40B4-BE49-F238E27FC236}">
                <a16:creationId xmlns:a16="http://schemas.microsoft.com/office/drawing/2014/main" id="{3891A980-AD92-EAA9-771D-240E2566EA71}"/>
              </a:ext>
            </a:extLst>
          </p:cNvPr>
          <p:cNvSpPr txBox="1"/>
          <p:nvPr/>
        </p:nvSpPr>
        <p:spPr>
          <a:xfrm>
            <a:off x="4492272" y="0"/>
            <a:ext cx="2130007" cy="400110"/>
          </a:xfrm>
          <a:prstGeom prst="rect">
            <a:avLst/>
          </a:prstGeom>
          <a:noFill/>
        </p:spPr>
        <p:txBody>
          <a:bodyPr wrap="none" rtlCol="0">
            <a:spAutoFit/>
          </a:bodyPr>
          <a:lstStyle/>
          <a:p>
            <a:r>
              <a:rPr lang="en-US" sz="2000" b="1" dirty="0"/>
              <a:t>User Dashboard</a:t>
            </a:r>
          </a:p>
        </p:txBody>
      </p:sp>
    </p:spTree>
    <p:extLst>
      <p:ext uri="{BB962C8B-B14F-4D97-AF65-F5344CB8AC3E}">
        <p14:creationId xmlns:p14="http://schemas.microsoft.com/office/powerpoint/2010/main" val="1513874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F8589F-8915-0978-B4EB-90A427A891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5885" y="344836"/>
            <a:ext cx="4973854" cy="3108659"/>
          </a:xfrm>
          <a:prstGeom prst="rect">
            <a:avLst/>
          </a:prstGeom>
        </p:spPr>
      </p:pic>
      <p:pic>
        <p:nvPicPr>
          <p:cNvPr id="5" name="Picture 4">
            <a:extLst>
              <a:ext uri="{FF2B5EF4-FFF2-40B4-BE49-F238E27FC236}">
                <a16:creationId xmlns:a16="http://schemas.microsoft.com/office/drawing/2014/main" id="{48DDE2C2-EB53-AE3A-9992-645EAF395B9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885" y="3453495"/>
            <a:ext cx="4973854" cy="3108659"/>
          </a:xfrm>
          <a:prstGeom prst="rect">
            <a:avLst/>
          </a:prstGeom>
        </p:spPr>
      </p:pic>
      <p:pic>
        <p:nvPicPr>
          <p:cNvPr id="6" name="Picture 5">
            <a:extLst>
              <a:ext uri="{FF2B5EF4-FFF2-40B4-BE49-F238E27FC236}">
                <a16:creationId xmlns:a16="http://schemas.microsoft.com/office/drawing/2014/main" id="{96E784C4-421F-01DD-8DB5-26B3311B0C4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4886" y="320339"/>
            <a:ext cx="4973856" cy="3108660"/>
          </a:xfrm>
          <a:prstGeom prst="rect">
            <a:avLst/>
          </a:prstGeom>
        </p:spPr>
      </p:pic>
      <p:pic>
        <p:nvPicPr>
          <p:cNvPr id="7" name="Picture 6">
            <a:extLst>
              <a:ext uri="{FF2B5EF4-FFF2-40B4-BE49-F238E27FC236}">
                <a16:creationId xmlns:a16="http://schemas.microsoft.com/office/drawing/2014/main" id="{357EEFE5-4795-DA15-5A89-2123DB6C7C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84886" y="3428999"/>
            <a:ext cx="4973856" cy="3108660"/>
          </a:xfrm>
          <a:prstGeom prst="rect">
            <a:avLst/>
          </a:prstGeom>
        </p:spPr>
      </p:pic>
      <p:sp>
        <p:nvSpPr>
          <p:cNvPr id="8" name="TextBox 7">
            <a:extLst>
              <a:ext uri="{FF2B5EF4-FFF2-40B4-BE49-F238E27FC236}">
                <a16:creationId xmlns:a16="http://schemas.microsoft.com/office/drawing/2014/main" id="{63270AC2-4632-F2AA-7C08-8BC2920D25B6}"/>
              </a:ext>
            </a:extLst>
          </p:cNvPr>
          <p:cNvSpPr txBox="1"/>
          <p:nvPr/>
        </p:nvSpPr>
        <p:spPr>
          <a:xfrm>
            <a:off x="4454592" y="0"/>
            <a:ext cx="2149691" cy="369332"/>
          </a:xfrm>
          <a:prstGeom prst="rect">
            <a:avLst/>
          </a:prstGeom>
          <a:noFill/>
        </p:spPr>
        <p:txBody>
          <a:bodyPr wrap="none" rtlCol="0">
            <a:spAutoFit/>
          </a:bodyPr>
          <a:lstStyle/>
          <a:p>
            <a:r>
              <a:rPr lang="en-US" b="1" dirty="0"/>
              <a:t>Admin Dashboard</a:t>
            </a:r>
          </a:p>
        </p:txBody>
      </p:sp>
    </p:spTree>
    <p:extLst>
      <p:ext uri="{BB962C8B-B14F-4D97-AF65-F5344CB8AC3E}">
        <p14:creationId xmlns:p14="http://schemas.microsoft.com/office/powerpoint/2010/main" val="2555483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22FC42-E0AD-E884-6F1C-191B9FDEF4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6447" y="321734"/>
            <a:ext cx="4648273" cy="2905170"/>
          </a:xfrm>
          <a:prstGeom prst="rect">
            <a:avLst/>
          </a:prstGeom>
        </p:spPr>
      </p:pic>
      <p:pic>
        <p:nvPicPr>
          <p:cNvPr id="5" name="Picture 4">
            <a:extLst>
              <a:ext uri="{FF2B5EF4-FFF2-40B4-BE49-F238E27FC236}">
                <a16:creationId xmlns:a16="http://schemas.microsoft.com/office/drawing/2014/main" id="{3D1C94B4-7051-372E-9AE0-4319577E0C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2134" y="3631096"/>
            <a:ext cx="4416897" cy="2760560"/>
          </a:xfrm>
          <a:prstGeom prst="rect">
            <a:avLst/>
          </a:prstGeom>
        </p:spPr>
      </p:pic>
      <p:sp>
        <p:nvSpPr>
          <p:cNvPr id="11" name="Rectangle 10">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7C0EBA21-F80A-2812-531A-B9D5F1BC97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8034" y="1660832"/>
            <a:ext cx="5426764" cy="3391726"/>
          </a:xfrm>
          <a:prstGeom prst="rect">
            <a:avLst/>
          </a:prstGeom>
        </p:spPr>
      </p:pic>
      <p:sp>
        <p:nvSpPr>
          <p:cNvPr id="8" name="TextBox 7">
            <a:extLst>
              <a:ext uri="{FF2B5EF4-FFF2-40B4-BE49-F238E27FC236}">
                <a16:creationId xmlns:a16="http://schemas.microsoft.com/office/drawing/2014/main" id="{E02A8E7D-C9A3-6B9B-5A39-41E988E2F377}"/>
              </a:ext>
            </a:extLst>
          </p:cNvPr>
          <p:cNvSpPr txBox="1"/>
          <p:nvPr/>
        </p:nvSpPr>
        <p:spPr>
          <a:xfrm>
            <a:off x="7874000" y="558800"/>
            <a:ext cx="2860720" cy="369332"/>
          </a:xfrm>
          <a:prstGeom prst="rect">
            <a:avLst/>
          </a:prstGeom>
          <a:noFill/>
        </p:spPr>
        <p:txBody>
          <a:bodyPr wrap="none" rtlCol="0">
            <a:spAutoFit/>
          </a:bodyPr>
          <a:lstStyle/>
          <a:p>
            <a:r>
              <a:rPr lang="en-IN" sz="1800" b="1" dirty="0">
                <a:effectLst/>
                <a:latin typeface="Times New Roman" panose="02020603050405020304" pitchFamily="18" charset="0"/>
                <a:ea typeface="Arial" panose="020B0604020202020204" pitchFamily="34" charset="0"/>
              </a:rPr>
              <a:t>Station Owner </a:t>
            </a:r>
            <a:r>
              <a:rPr lang="en-IN" sz="1800" b="1" dirty="0" err="1">
                <a:effectLst/>
                <a:latin typeface="Times New Roman" panose="02020603050405020304" pitchFamily="18" charset="0"/>
                <a:ea typeface="Arial" panose="020B0604020202020204" pitchFamily="34" charset="0"/>
              </a:rPr>
              <a:t>DashBoard</a:t>
            </a:r>
            <a:r>
              <a:rPr lang="en-IN" b="1" dirty="0">
                <a:effectLst/>
              </a:rPr>
              <a:t> </a:t>
            </a:r>
            <a:endParaRPr lang="en-US" b="1" dirty="0"/>
          </a:p>
        </p:txBody>
      </p:sp>
    </p:spTree>
    <p:extLst>
      <p:ext uri="{BB962C8B-B14F-4D97-AF65-F5344CB8AC3E}">
        <p14:creationId xmlns:p14="http://schemas.microsoft.com/office/powerpoint/2010/main" val="2545766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177F0-9EF8-7CEE-9D12-F128E96DC55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19DA0855-69E0-A9D4-B97D-C1CF6443ECC7}"/>
              </a:ext>
            </a:extLst>
          </p:cNvPr>
          <p:cNvSpPr>
            <a:spLocks noGrp="1"/>
          </p:cNvSpPr>
          <p:nvPr>
            <p:ph idx="1"/>
          </p:nvPr>
        </p:nvSpPr>
        <p:spPr/>
        <p:txBody>
          <a:bodyPr>
            <a:normAutofit/>
          </a:bodyPr>
          <a:lstStyle/>
          <a:p>
            <a:r>
              <a:rPr lang="en-IN" dirty="0"/>
              <a:t>The EV Charging Management System is a scalable web-based platform designed to improve the EV user experience through features like station discovery, slot booking, and route planning.</a:t>
            </a:r>
          </a:p>
          <a:p>
            <a:r>
              <a:rPr lang="en-IN" dirty="0"/>
              <a:t>With role-based modules for Users, Admins, and Station Owners, the system ensures efficient station management, real-time updates, and secure access using JWT.</a:t>
            </a:r>
          </a:p>
          <a:p>
            <a:r>
              <a:rPr lang="en-IN" dirty="0"/>
              <a:t>It reduces wait times, improves station visibility, and supports smart city integration—encouraging sustainable, clean transportation solutions.</a:t>
            </a:r>
          </a:p>
        </p:txBody>
      </p:sp>
    </p:spTree>
    <p:extLst>
      <p:ext uri="{BB962C8B-B14F-4D97-AF65-F5344CB8AC3E}">
        <p14:creationId xmlns:p14="http://schemas.microsoft.com/office/powerpoint/2010/main" val="351475128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39</TotalTime>
  <Words>457</Words>
  <Application>Microsoft Macintosh PowerPoint</Application>
  <PresentationFormat>Widescreen</PresentationFormat>
  <Paragraphs>37</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Gill Sans MT</vt:lpstr>
      <vt:lpstr>Times New Roman</vt:lpstr>
      <vt:lpstr>Parcel</vt:lpstr>
      <vt:lpstr>Submitted by :  DEEPAK DAS TATWA(AP22110011485) PUJITHA POTLURI(AP22110011486) MNH SRAVYAVANI(AP22110011456)   Under the Guidance of: Dr. Randhir Kumar  SRM University AP, AndhrA Pradesh </vt:lpstr>
      <vt:lpstr>Introduction</vt:lpstr>
      <vt:lpstr>System Overview</vt:lpstr>
      <vt:lpstr>Design – Use case diagram</vt:lpstr>
      <vt:lpstr>Sequence diagram</vt:lpstr>
      <vt:lpstr>Model Used: Agile Software Development Model</vt:lpstr>
      <vt:lpstr>Visual Overview Of Web Application Components </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lostaroy bikram sah | AP22110011490</dc:creator>
  <cp:lastModifiedBy>lostaroy bikram sah | AP22110011490</cp:lastModifiedBy>
  <cp:revision>1</cp:revision>
  <dcterms:created xsi:type="dcterms:W3CDTF">2025-04-25T04:10:54Z</dcterms:created>
  <dcterms:modified xsi:type="dcterms:W3CDTF">2025-04-25T04:50:46Z</dcterms:modified>
</cp:coreProperties>
</file>